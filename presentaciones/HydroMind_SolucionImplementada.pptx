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6" r:id="rId9"/>
    <p:sldId id="269" r:id="rId10"/>
    <p:sldId id="270" r:id="rId11"/>
    <p:sldId id="267" r:id="rId12"/>
    <p:sldId id="268" r:id="rId13"/>
    <p:sldId id="264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s-CO" sz="1100" b="0" i="0" u="none" strike="noStrike">
                <a:solidFill>
                  <a:srgbClr val="0A1628"/>
                </a:solidFill>
                <a:latin typeface="Arial"/>
              </a:rPr>
              <a:t>F1-Score Weighted por Componente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(Test)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B18-4DDD-8418-3F3FF936686B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B18-4DDD-8418-3F3FF936686B}"/>
              </c:ext>
            </c:extLst>
          </c:dPt>
          <c:dPt>
            <c:idx val="2"/>
            <c:invertIfNegative val="0"/>
            <c:bubble3D val="0"/>
            <c:spPr>
              <a:solidFill>
                <a:srgbClr val="00AC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B18-4DDD-8418-3F3FF936686B}"/>
              </c:ext>
            </c:extLst>
          </c:dPt>
          <c:dPt>
            <c:idx val="3"/>
            <c:invertIfNegative val="0"/>
            <c:bubble3D val="0"/>
            <c:spPr>
              <a:solidFill>
                <a:srgbClr val="F57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B18-4DDD-8418-3F3FF936686B}"/>
              </c:ext>
            </c:extLst>
          </c:dPt>
          <c:dPt>
            <c:idx val="4"/>
            <c:invertIfNegative val="0"/>
            <c:bubble3D val="0"/>
            <c:spPr>
              <a:solidFill>
                <a:srgbClr val="0083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B18-4DDD-8418-3F3FF936686B}"/>
              </c:ext>
            </c:extLst>
          </c:dPt>
          <c:dLbls>
            <c:delete val="1"/>
          </c:dLbls>
          <c:cat>
            <c:strRef>
              <c:f>Sheet1!$A$2:$A$6</c:f>
              <c:strCache>
                <c:ptCount val="5"/>
                <c:pt idx="0">
                  <c:v>Cooler
Condition</c:v>
                </c:pt>
                <c:pt idx="1">
                  <c:v>Hydraulic
Accumulator</c:v>
                </c:pt>
                <c:pt idx="2">
                  <c:v>Pump
Leakage</c:v>
                </c:pt>
                <c:pt idx="3">
                  <c:v>Valve
Condition</c:v>
                </c:pt>
                <c:pt idx="4">
                  <c:v>Stable
Flag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</c:v>
                </c:pt>
                <c:pt idx="1">
                  <c:v>0.99</c:v>
                </c:pt>
                <c:pt idx="2">
                  <c:v>0.97</c:v>
                </c:pt>
                <c:pt idx="3">
                  <c:v>0.96</c:v>
                </c:pt>
                <c:pt idx="4">
                  <c:v>0.9909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B18-4DDD-8418-3F3FF93668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471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03BF3-B8F0-48D1-81F4-5F60393DC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CF0DDB-D340-7CB8-85C6-90D6E487A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C3158-E0A9-DBB2-5E16-A2225A26A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BAD9D-0E85-F356-DE3C-7870FB3F2F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01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2BD4-B14F-8324-2770-55F6D0B13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43C17-AAFC-4176-9013-B60AD8A9E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71BBC-96C9-1F73-3DCB-ECE174A9B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9DF93-90C1-2B64-775B-7289196E00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43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B5BB1-7EF4-6B4B-4E39-929691EE9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0B49C-3129-B74D-0B4F-7879CA0B0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A7755F-193D-6D83-3F8D-64FA74822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D6E9E-AE72-A60E-308C-4F75E7AF6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406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F7514-0183-9290-D3CC-B1AC66833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FDF55-3E14-2FF5-50AE-0703FAC3C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7DA62D-4230-5C47-A552-F9FFA7A9C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88730-81BF-C5C2-D752-82D21E23F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91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6D4CB-D6DB-DC83-1788-E3BA4321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6DA55-DB8B-7A06-98FA-0B5FFCA35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501AD4-91FD-763E-5990-AD9C1AB1E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4EF1C-F52C-CA06-514E-4B40D241A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39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kern="0" spc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HYDROMIND</a:t>
            </a:r>
            <a:endParaRPr lang="en-US" sz="70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· MANTENIMIENTO PREDICTIVO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00"/>
                </a:solidFill>
              </a:rPr>
              <a:t>SOLUCIÓN IMPLEMENTADA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19 de Mayo,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0ACC1">
              <a:alpha val="12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38D8DA5-2723-1F09-9474-7B774DDE108D}"/>
              </a:ext>
            </a:extLst>
          </p:cNvPr>
          <p:cNvSpPr/>
          <p:nvPr/>
        </p:nvSpPr>
        <p:spPr>
          <a:xfrm>
            <a:off x="457200" y="307689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PABLO GONZÁLEZ BLANDÓN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411480" cy="41148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Presentación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488758" y="1028700"/>
            <a:ext cx="3840480" cy="566928"/>
          </a:xfrm>
          <a:prstGeom prst="rect">
            <a:avLst/>
          </a:prstGeom>
          <a:solidFill>
            <a:srgbClr val="0D2144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488758" y="1028700"/>
            <a:ext cx="457200" cy="5669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488758" y="10287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9110" y="10287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General y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Especificos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Proyecto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88758" y="1705356"/>
            <a:ext cx="3840480" cy="566928"/>
          </a:xfrm>
          <a:prstGeom prst="rect">
            <a:avLst/>
          </a:prstGeom>
          <a:solidFill>
            <a:srgbClr val="0D2144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488758" y="1705356"/>
            <a:ext cx="457200" cy="5669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488758" y="17053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9110" y="170535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Bloques de la Solución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488758" y="2382012"/>
            <a:ext cx="3840480" cy="566928"/>
          </a:xfrm>
          <a:prstGeom prst="rect">
            <a:avLst/>
          </a:prstGeom>
          <a:solidFill>
            <a:srgbClr val="0D2144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488758" y="2382012"/>
            <a:ext cx="457200" cy="5669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488758" y="23820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9110" y="2434931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Pre-tratamiento de Datos y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X,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28712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33272" y="287121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88758" y="3058669"/>
            <a:ext cx="3840480" cy="566928"/>
          </a:xfrm>
          <a:prstGeom prst="rect">
            <a:avLst/>
          </a:prstGeom>
          <a:solidFill>
            <a:srgbClr val="0D2144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488758" y="3058669"/>
            <a:ext cx="457200" cy="5669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2488758" y="3058669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9110" y="3058669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Implementados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488758" y="3735325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88758" y="3744404"/>
            <a:ext cx="3840480" cy="566928"/>
          </a:xfrm>
          <a:prstGeom prst="rect">
            <a:avLst/>
          </a:prstGeom>
          <a:solidFill>
            <a:srgbClr val="0D2144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2488758" y="3744404"/>
            <a:ext cx="457200" cy="5669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2488758" y="37444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19110" y="374440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Futuro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General y </a:t>
            </a:r>
            <a:r>
              <a:rPr lang="en-US" sz="22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25780" y="1355387"/>
            <a:ext cx="8229600" cy="784698"/>
          </a:xfrm>
          <a:prstGeom prst="rect">
            <a:avLst/>
          </a:prstGeom>
          <a:solidFill>
            <a:srgbClr val="F0F8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68630" y="1355386"/>
            <a:ext cx="91440" cy="784699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91540" y="974416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de mantenimiento predictivo inteligente para sistemas hidráulicos industriales mediante modelos híbridos de Machine Learning.</a:t>
            </a:r>
            <a:endParaRPr lang="en-US" sz="12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DB13CB1-03F2-CFCD-3C9D-E490DC0DDAAF}"/>
              </a:ext>
            </a:extLst>
          </p:cNvPr>
          <p:cNvSpPr/>
          <p:nvPr/>
        </p:nvSpPr>
        <p:spPr>
          <a:xfrm>
            <a:off x="467414" y="2814072"/>
            <a:ext cx="91440" cy="1645920"/>
          </a:xfrm>
          <a:prstGeom prst="rect">
            <a:avLst/>
          </a:prstGeom>
          <a:solidFill>
            <a:srgbClr val="FFC000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57B4C4A8-5261-4CBF-65BA-0C7D1294CB1C}"/>
              </a:ext>
            </a:extLst>
          </p:cNvPr>
          <p:cNvSpPr/>
          <p:nvPr/>
        </p:nvSpPr>
        <p:spPr>
          <a:xfrm>
            <a:off x="560070" y="2814072"/>
            <a:ext cx="2532848" cy="1645920"/>
          </a:xfrm>
          <a:prstGeom prst="rect">
            <a:avLst/>
          </a:prstGeom>
          <a:solidFill>
            <a:srgbClr val="F0F8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D3EF3BF9-D807-2457-07C2-4E339134DF98}"/>
              </a:ext>
            </a:extLst>
          </p:cNvPr>
          <p:cNvSpPr/>
          <p:nvPr/>
        </p:nvSpPr>
        <p:spPr>
          <a:xfrm>
            <a:off x="770758" y="2872636"/>
            <a:ext cx="2213113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viabilidad técnica de reducir las ventanas de tiempo</a:t>
            </a:r>
          </a:p>
          <a:p>
            <a:r>
              <a:rPr lang="es-ES" sz="12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predicción.</a:t>
            </a:r>
            <a:endParaRPr lang="en-US" sz="125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A24E00CC-49D6-A0EC-7644-B8AFA54528B1}"/>
              </a:ext>
            </a:extLst>
          </p:cNvPr>
          <p:cNvSpPr/>
          <p:nvPr/>
        </p:nvSpPr>
        <p:spPr>
          <a:xfrm>
            <a:off x="3352909" y="2817512"/>
            <a:ext cx="91440" cy="1645920"/>
          </a:xfrm>
          <a:prstGeom prst="rect">
            <a:avLst/>
          </a:prstGeom>
          <a:solidFill>
            <a:srgbClr val="FFC000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80719C5E-FC82-EE02-16FF-59943452D573}"/>
              </a:ext>
            </a:extLst>
          </p:cNvPr>
          <p:cNvSpPr/>
          <p:nvPr/>
        </p:nvSpPr>
        <p:spPr>
          <a:xfrm>
            <a:off x="3445565" y="2817512"/>
            <a:ext cx="2523862" cy="1645920"/>
          </a:xfrm>
          <a:prstGeom prst="rect">
            <a:avLst/>
          </a:prstGeom>
          <a:solidFill>
            <a:srgbClr val="F0F8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142D4897-37F4-4A2B-B0CE-6AD6B53595DE}"/>
              </a:ext>
            </a:extLst>
          </p:cNvPr>
          <p:cNvSpPr/>
          <p:nvPr/>
        </p:nvSpPr>
        <p:spPr>
          <a:xfrm>
            <a:off x="3705554" y="2863232"/>
            <a:ext cx="2172433" cy="150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el subconjunto de variables con mayor poder</a:t>
            </a:r>
          </a:p>
          <a:p>
            <a:r>
              <a:rPr lang="es-ES" sz="12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predictivo por componente.</a:t>
            </a:r>
            <a:endParaRPr lang="en-US" sz="125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267BA405-BD6D-35B8-7C6F-789FF31A121E}"/>
              </a:ext>
            </a:extLst>
          </p:cNvPr>
          <p:cNvSpPr/>
          <p:nvPr/>
        </p:nvSpPr>
        <p:spPr>
          <a:xfrm>
            <a:off x="6229418" y="2826916"/>
            <a:ext cx="91440" cy="1645920"/>
          </a:xfrm>
          <a:prstGeom prst="rect">
            <a:avLst/>
          </a:prstGeom>
          <a:solidFill>
            <a:srgbClr val="FFC000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936A5673-C92F-1DB9-F75A-A710EF48086E}"/>
              </a:ext>
            </a:extLst>
          </p:cNvPr>
          <p:cNvSpPr/>
          <p:nvPr/>
        </p:nvSpPr>
        <p:spPr>
          <a:xfrm>
            <a:off x="6322073" y="2826916"/>
            <a:ext cx="2473103" cy="1645920"/>
          </a:xfrm>
          <a:prstGeom prst="rect">
            <a:avLst/>
          </a:prstGeom>
          <a:solidFill>
            <a:srgbClr val="F0F8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9C255CFA-6FE3-C374-C31B-6122C3216584}"/>
              </a:ext>
            </a:extLst>
          </p:cNvPr>
          <p:cNvSpPr/>
          <p:nvPr/>
        </p:nvSpPr>
        <p:spPr>
          <a:xfrm>
            <a:off x="6582063" y="2872636"/>
            <a:ext cx="2213113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eficacia de un sistema de mantenimiento predictivo mediante el despliegue de modelos especializados por componente.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Bloques – Propuesta de Solución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3303AB8-72E5-A8D6-0186-7AC33E0252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647"/>
          <a:stretch>
            <a:fillRect/>
          </a:stretch>
        </p:blipFill>
        <p:spPr>
          <a:xfrm>
            <a:off x="320040" y="797668"/>
            <a:ext cx="8564556" cy="4161642"/>
          </a:xfrm>
          <a:prstGeom prst="rect">
            <a:avLst/>
          </a:prstGeom>
        </p:spPr>
      </p:pic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8FFB4FD0-FA3F-ACED-0EFD-10EECDA65100}"/>
              </a:ext>
            </a:extLst>
          </p:cNvPr>
          <p:cNvCxnSpPr/>
          <p:nvPr/>
        </p:nvCxnSpPr>
        <p:spPr>
          <a:xfrm>
            <a:off x="4059677" y="2571750"/>
            <a:ext cx="0" cy="1559263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accent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AE7A1370-5145-2020-A70D-6EDE09BB72B5}"/>
              </a:ext>
            </a:extLst>
          </p:cNvPr>
          <p:cNvCxnSpPr>
            <a:cxnSpLocks/>
          </p:cNvCxnSpPr>
          <p:nvPr/>
        </p:nvCxnSpPr>
        <p:spPr>
          <a:xfrm>
            <a:off x="4900613" y="4824919"/>
            <a:ext cx="261937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de la Matriz X – Entrenamiento, Prueba y Validación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2633472" cy="1828800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2633472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 </a:t>
            </a:r>
            <a:r>
              <a:rPr lang="es-CO" sz="950" b="1" dirty="0">
                <a:solidFill>
                  <a:srgbClr val="FFFFFF"/>
                </a:solidFill>
              </a:rPr>
              <a:t>🏅 </a:t>
            </a:r>
            <a:r>
              <a:rPr lang="en-US" sz="950" b="1" dirty="0">
                <a:solidFill>
                  <a:srgbClr val="FFFFFF"/>
                </a:solidFill>
              </a:rPr>
              <a:t>Gold / Matrices X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1430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X_silver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2,205 × 102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Y (5 targets)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2,205 × 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63240" y="822960"/>
            <a:ext cx="5943600" cy="320040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063240" y="822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34840" y="822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X_gold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77840" y="822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Entren. (70%)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20840" y="822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Val. (15%)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63840" y="822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Test (15%)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063240" y="1170432"/>
            <a:ext cx="59436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108960" y="1170432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565C0"/>
                </a:solidFill>
              </a:rPr>
              <a:t>cooler_condition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434840" y="117043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2,205 × 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77840" y="117043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1,543 × 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20840" y="117043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331 × 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117043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331 × 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63240" y="1581912"/>
            <a:ext cx="594360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108960" y="1581912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565C0"/>
                </a:solidFill>
              </a:rPr>
              <a:t>valve_condition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434840" y="158191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2,205 × 14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77840" y="158191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1,543 × 14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20840" y="158191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331 × 14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63840" y="158191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331 × 14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063240" y="1993392"/>
            <a:ext cx="59436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108960" y="1993392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565C0"/>
                </a:solidFill>
              </a:rPr>
              <a:t>internal_pump_leakage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434840" y="199339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2,205 × 11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77840" y="199339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1,543 × 11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20840" y="199339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331 × 11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0" y="199339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331 × 11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063240" y="2404872"/>
            <a:ext cx="594360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108960" y="2404872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565C0"/>
                </a:solidFill>
              </a:rPr>
              <a:t>hydraulic_accumulator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434840" y="240487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2,205 × 27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77840" y="240487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1,543 × 27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20840" y="240487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331 × 27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863840" y="240487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331 × 27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063240" y="2816352"/>
            <a:ext cx="59436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3108960" y="2816352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565C0"/>
                </a:solidFill>
              </a:rPr>
              <a:t>stable_flag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434840" y="281635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2,205 × 19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77840" y="281635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1,543 × 19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20840" y="281635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331 × 19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63840" y="2816352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628"/>
                </a:solidFill>
              </a:rPr>
              <a:t>331 × 19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063240" y="32461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07D8B"/>
                </a:solidFill>
              </a:rPr>
              <a:t>División estratificada: 70% entrenamiento · 15% validación · 15% test (stratify=Y)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84048" y="2788920"/>
            <a:ext cx="2615184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32004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65C0"/>
                </a:solidFill>
              </a:rPr>
              <a:t>División por Target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" y="3246120"/>
            <a:ext cx="166420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502920" y="324612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70%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2920" y="376732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1628"/>
                </a:solidFill>
              </a:rPr>
              <a:t>Entrenamiento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167128" y="3246120"/>
            <a:ext cx="356616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2167128" y="3246120"/>
            <a:ext cx="356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15%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130699" y="3752580"/>
            <a:ext cx="4294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1628"/>
                </a:solidFill>
              </a:rPr>
              <a:t>Validación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523744" y="3246120"/>
            <a:ext cx="356616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2523744" y="3246120"/>
            <a:ext cx="356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15%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523744" y="3767328"/>
            <a:ext cx="356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1628"/>
                </a:solidFill>
              </a:rPr>
              <a:t>Test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20040" y="4069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2,205 ciclos totales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(dataset ZeMA)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20040" y="4572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07D8B"/>
                </a:solidFill>
              </a:rPr>
              <a:t>CV: StratifiedKFold (k=5)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Implementados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011680" cy="36203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01168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🌳 Decision Tree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2618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07D8B"/>
                </a:solidFill>
              </a:rPr>
              <a:t>Target: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4048" y="1319023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</a:rPr>
              <a:t>Cooler Condition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15864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07D8B"/>
                </a:solidFill>
              </a:rPr>
              <a:t>Parámetros: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4048" y="1587222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628"/>
                </a:solidFill>
              </a:rPr>
              <a:t>max_depth=3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048" y="1890965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07D8B"/>
                </a:solidFill>
              </a:rPr>
              <a:t>¿Por qué?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04579" y="2007478"/>
            <a:ext cx="1792224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A1628"/>
                </a:solidFill>
              </a:rPr>
              <a:t>Un árbol de profundidad 3 es suficiente con 1 feature (CE_mean). Interpretable físicamente.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68880" y="822960"/>
            <a:ext cx="2011680" cy="364875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2468880" y="822960"/>
            <a:ext cx="20116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2468880" y="822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🌲 Random Forest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78608" y="12618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07D8B"/>
                </a:solidFill>
              </a:rPr>
              <a:t>Target: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78608" y="1312164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Accumulator &amp; Stable Flag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78608" y="15864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07D8B"/>
                </a:solidFill>
              </a:rPr>
              <a:t>Parámetros: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73004" y="165191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 err="1">
                <a:solidFill>
                  <a:srgbClr val="0A1628"/>
                </a:solidFill>
              </a:rPr>
              <a:t>n_estimators</a:t>
            </a:r>
            <a:r>
              <a:rPr lang="en-US" sz="700" dirty="0">
                <a:solidFill>
                  <a:srgbClr val="0A1628"/>
                </a:solidFill>
              </a:rPr>
              <a:t>, </a:t>
            </a:r>
            <a:r>
              <a:rPr lang="en-US" sz="700" dirty="0" err="1">
                <a:solidFill>
                  <a:srgbClr val="0A1628"/>
                </a:solidFill>
              </a:rPr>
              <a:t>max_depth</a:t>
            </a:r>
            <a:r>
              <a:rPr lang="en-US" sz="700" dirty="0">
                <a:solidFill>
                  <a:srgbClr val="0A1628"/>
                </a:solidFill>
              </a:rPr>
              <a:t>,</a:t>
            </a:r>
          </a:p>
          <a:p>
            <a:pPr marL="0" indent="0">
              <a:buNone/>
            </a:pPr>
            <a:r>
              <a:rPr lang="en-US" sz="700" dirty="0" err="1">
                <a:solidFill>
                  <a:srgbClr val="0A1628"/>
                </a:solidFill>
              </a:rPr>
              <a:t>min_samples_leaf</a:t>
            </a:r>
            <a:r>
              <a:rPr lang="en-US" sz="700" dirty="0">
                <a:solidFill>
                  <a:srgbClr val="0A1628"/>
                </a:solidFill>
              </a:rPr>
              <a:t>, </a:t>
            </a:r>
            <a:r>
              <a:rPr lang="en-US" sz="700" dirty="0" err="1">
                <a:solidFill>
                  <a:srgbClr val="0A1628"/>
                </a:solidFill>
              </a:rPr>
              <a:t>max_features</a:t>
            </a:r>
            <a:r>
              <a:rPr lang="en-US" sz="700" dirty="0">
                <a:solidFill>
                  <a:srgbClr val="0A1628"/>
                </a:solidFill>
              </a:rPr>
              <a:t>, </a:t>
            </a:r>
            <a:r>
              <a:rPr lang="en-US" sz="700" dirty="0" err="1">
                <a:solidFill>
                  <a:srgbClr val="0A1628"/>
                </a:solidFill>
              </a:rPr>
              <a:t>class_weight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578608" y="204186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07D8B"/>
                </a:solidFill>
              </a:rPr>
              <a:t>¿Por qué?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496312" y="2171057"/>
            <a:ext cx="1792224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A1628"/>
                </a:solidFill>
              </a:rPr>
              <a:t>Robusto ante outliers y clases desbalanceadas. GridSearchCV 144 combinaciones.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822959"/>
            <a:ext cx="2011680" cy="364875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663440" y="822960"/>
            <a:ext cx="2011680" cy="3840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663440" y="822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🔷 SVM (RBF)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73168" y="12618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07D8B"/>
                </a:solidFill>
              </a:rPr>
              <a:t>Target: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73168" y="12984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CC1"/>
                </a:solidFill>
              </a:rPr>
              <a:t>Pump Leakage &amp; Valve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73168" y="1551335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07D8B"/>
                </a:solidFill>
              </a:rPr>
              <a:t>Parámetros: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84340" y="1604281"/>
            <a:ext cx="20187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0A1628"/>
                </a:solidFill>
              </a:rPr>
              <a:t>C, gamma, kernel, </a:t>
            </a:r>
            <a:r>
              <a:rPr lang="es-CO" sz="700" dirty="0" err="1"/>
              <a:t>class_weight</a:t>
            </a:r>
            <a:r>
              <a:rPr lang="es-CO" sz="700" dirty="0"/>
              <a:t>, </a:t>
            </a:r>
            <a:r>
              <a:rPr lang="es-CO" sz="700" dirty="0" err="1"/>
              <a:t>decision_function_shape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778737" y="1937793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07D8B"/>
                </a:solidFill>
              </a:rPr>
              <a:t>¿Por qué?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08275" y="2049806"/>
            <a:ext cx="1792224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A1628"/>
                </a:solidFill>
              </a:rPr>
              <a:t>Fronteras no lineales complejas. Mejor performance en estados solapados (PCA).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58000" y="880110"/>
            <a:ext cx="20116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858000" y="822960"/>
            <a:ext cx="2011680" cy="38404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6858000" y="822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⚡ XGBoost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67728" y="12618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07D8B"/>
                </a:solidFill>
              </a:rPr>
              <a:t>Target: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967728" y="12984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C00"/>
                </a:solidFill>
              </a:rPr>
              <a:t>Comparación (benchmark)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67728" y="159828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07D8B"/>
                </a:solidFill>
              </a:rPr>
              <a:t>Parámetros: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967728" y="16325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 err="1">
                <a:solidFill>
                  <a:srgbClr val="0A1628"/>
                </a:solidFill>
              </a:rPr>
              <a:t>n_estimators</a:t>
            </a:r>
            <a:r>
              <a:rPr lang="en-US" sz="700" dirty="0">
                <a:solidFill>
                  <a:srgbClr val="0A1628"/>
                </a:solidFill>
              </a:rPr>
              <a:t>, </a:t>
            </a:r>
            <a:r>
              <a:rPr lang="en-US" sz="700" dirty="0" err="1">
                <a:solidFill>
                  <a:srgbClr val="0A1628"/>
                </a:solidFill>
              </a:rPr>
              <a:t>lr</a:t>
            </a:r>
            <a:r>
              <a:rPr lang="en-US" sz="700" dirty="0">
                <a:solidFill>
                  <a:srgbClr val="0A1628"/>
                </a:solidFill>
              </a:rPr>
              <a:t>, </a:t>
            </a:r>
            <a:r>
              <a:rPr lang="es-CO" sz="700" dirty="0" err="1"/>
              <a:t>max_Depth</a:t>
            </a:r>
            <a:r>
              <a:rPr lang="es-CO" sz="700" dirty="0"/>
              <a:t>, </a:t>
            </a:r>
            <a:r>
              <a:rPr lang="es-CO" sz="700" dirty="0" err="1"/>
              <a:t>subsample</a:t>
            </a:r>
            <a:r>
              <a:rPr lang="es-CO" sz="700" dirty="0"/>
              <a:t>, </a:t>
            </a:r>
            <a:r>
              <a:rPr lang="es-CO" sz="700" dirty="0" err="1"/>
              <a:t>colsample_bytree</a:t>
            </a:r>
            <a:r>
              <a:rPr lang="es-CO" sz="700" dirty="0"/>
              <a:t>, </a:t>
            </a:r>
            <a:r>
              <a:rPr lang="es-CO" sz="700" dirty="0" err="1"/>
              <a:t>eval_metric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967728" y="197576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07D8B"/>
                </a:solidFill>
              </a:rPr>
              <a:t>¿Por qué?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885432" y="2089700"/>
            <a:ext cx="1792224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A1628"/>
                </a:solidFill>
              </a:rPr>
              <a:t>Boosting gradient: alta capacidad en datos tabulares. Referencia para comparación.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" y="4597514"/>
            <a:ext cx="8595360" cy="477405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438912" y="4574655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0A1628"/>
                </a:solidFill>
              </a:rPr>
              <a:t>Estrategia</a:t>
            </a:r>
            <a:r>
              <a:rPr lang="en-US" sz="900" dirty="0">
                <a:solidFill>
                  <a:srgbClr val="0A1628"/>
                </a:solidFill>
              </a:rPr>
              <a:t> de optimización: GridSearchCV (StratifiedKFold, k=5, scoring=f1_weighted) sobre el conjunto de entrenamiento. Evaluación final sobre test set no visto durante entrenamiento.</a:t>
            </a:r>
            <a:endParaRPr lang="en-US" sz="900" dirty="0"/>
          </a:p>
        </p:txBody>
      </p:sp>
      <p:pic>
        <p:nvPicPr>
          <p:cNvPr id="45" name="Imagen 44">
            <a:extLst>
              <a:ext uri="{FF2B5EF4-FFF2-40B4-BE49-F238E27FC236}">
                <a16:creationId xmlns:a16="http://schemas.microsoft.com/office/drawing/2014/main" id="{0C2CEDDB-2C2F-F444-5B10-A4D7445EF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483406"/>
            <a:ext cx="1901951" cy="1980362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EDE3C804-B9E9-72BA-13DD-297EAE0BD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203" y="2387691"/>
            <a:ext cx="928650" cy="956621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D1471B59-03DF-65D8-8F5A-38C003ED4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1577" y="3397366"/>
            <a:ext cx="1015406" cy="1045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Finales – F1-Score por Componente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56032" y="822960"/>
            <a:ext cx="192024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56032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897B"/>
                </a:solidFill>
              </a:rPr>
              <a:t>0.99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</a:rPr>
              <a:t>F1 Test · DT (depth=3)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" y="1828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Cooler Condition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11680" y="82296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011680" y="822960"/>
            <a:ext cx="19202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011680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</a:rPr>
              <a:t>0.99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011680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</a:rPr>
              <a:t>F1 Test · Best RF (tuned)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11680" y="1828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Hydraulic Accum.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82296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3767328" y="822960"/>
            <a:ext cx="1920240" cy="2011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767328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CC1"/>
                </a:solidFill>
              </a:rPr>
              <a:t>≥0.97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767328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</a:rPr>
              <a:t>F1 Test · Best SVM (RBF)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67328" y="1828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Pump Leakage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22976" y="82296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5522976" y="822960"/>
            <a:ext cx="1920240" cy="2011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522976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7C00"/>
                </a:solidFill>
              </a:rPr>
              <a:t>≥0.96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522976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</a:rPr>
              <a:t>F1 Test · Best SVM (RBF)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22976" y="1828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Valve Condition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78624" y="82296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7278624" y="822960"/>
            <a:ext cx="1920240" cy="20116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7278624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838F"/>
                </a:solidFill>
              </a:rPr>
              <a:t>0.99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278624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</a:rPr>
              <a:t>F1 Test · Best RF (k=300)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78624" y="1828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Stable Flag</a:t>
            </a:r>
            <a:endParaRPr lang="en-US" sz="8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256032" y="2148840"/>
          <a:ext cx="530352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Shape 29"/>
          <p:cNvSpPr/>
          <p:nvPr/>
        </p:nvSpPr>
        <p:spPr>
          <a:xfrm>
            <a:off x="5669280" y="2148840"/>
            <a:ext cx="32004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/>
          <p:nvPr/>
        </p:nvSpPr>
        <p:spPr>
          <a:xfrm>
            <a:off x="5742432" y="2194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Hallazgos Clave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760720" y="251460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A1628"/>
                </a:solidFill>
              </a:rPr>
              <a:t>✅  Cooler: Decision Tree (1 feature), 99% — clasificación perfecta con umbral simple en CE_mean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760720" y="306324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A1628"/>
                </a:solidFill>
              </a:rPr>
              <a:t>✅  Stable Flag: RF detecta 100% de precisión en ciclos inestables, recall=1.00 en ciclos estables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760720" y="361188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A1628"/>
                </a:solidFill>
              </a:rPr>
              <a:t>✅  Accumulator: RF tuned (300 árboles) logra 0.99 F1, supera XGBoost (0.97) y SVM (0.95)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760720" y="416052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A1628"/>
                </a:solidFill>
              </a:rPr>
              <a:t>⚠️  Valve &amp; Pump: SVM RBF </a:t>
            </a:r>
            <a:r>
              <a:rPr lang="en-US" sz="800" dirty="0" err="1">
                <a:solidFill>
                  <a:srgbClr val="0A1628"/>
                </a:solidFill>
              </a:rPr>
              <a:t>estados</a:t>
            </a:r>
            <a:r>
              <a:rPr lang="en-US" sz="800" dirty="0">
                <a:solidFill>
                  <a:srgbClr val="0A1628"/>
                </a:solidFill>
              </a:rPr>
              <a:t> </a:t>
            </a:r>
            <a:r>
              <a:rPr lang="en-US" sz="800" dirty="0" err="1">
                <a:solidFill>
                  <a:srgbClr val="0A1628"/>
                </a:solidFill>
              </a:rPr>
              <a:t>solapados</a:t>
            </a:r>
            <a:r>
              <a:rPr lang="en-US" sz="800" dirty="0">
                <a:solidFill>
                  <a:srgbClr val="0A1628"/>
                </a:solidFill>
              </a:rPr>
              <a:t>, sin embargo </a:t>
            </a:r>
            <a:r>
              <a:rPr lang="en-US" sz="800" dirty="0" err="1">
                <a:solidFill>
                  <a:srgbClr val="0A1628"/>
                </a:solidFill>
              </a:rPr>
              <a:t>grandes</a:t>
            </a:r>
            <a:r>
              <a:rPr lang="en-US" sz="800" dirty="0">
                <a:solidFill>
                  <a:srgbClr val="0A1628"/>
                </a:solidFill>
              </a:rPr>
              <a:t> </a:t>
            </a:r>
            <a:r>
              <a:rPr lang="en-US" sz="800" dirty="0" err="1">
                <a:solidFill>
                  <a:srgbClr val="0A1628"/>
                </a:solidFill>
              </a:rPr>
              <a:t>resultados</a:t>
            </a:r>
            <a:r>
              <a:rPr lang="en-US" sz="800" dirty="0">
                <a:solidFill>
                  <a:srgbClr val="0A1628"/>
                </a:solidFill>
              </a:rPr>
              <a:t> con F1-Score </a:t>
            </a:r>
            <a:r>
              <a:rPr lang="en-US" sz="800" dirty="0" err="1">
                <a:solidFill>
                  <a:srgbClr val="0A1628"/>
                </a:solidFill>
              </a:rPr>
              <a:t>superiores</a:t>
            </a:r>
            <a:r>
              <a:rPr lang="en-US" sz="800" dirty="0">
                <a:solidFill>
                  <a:srgbClr val="0A1628"/>
                </a:solidFill>
              </a:rPr>
              <a:t> al 97% y 96%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256032" y="489204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0BEC5"/>
                </a:solidFill>
              </a:rPr>
              <a:t>Métrica: F1-Score (weighted) — media armónica Precisión/Recall, robusta ante clases desbalanceadas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2B4784-9C5B-AA81-84CD-1724A6F40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DC5CF8-0EEB-0BD0-FF95-02906E85E389}"/>
              </a:ext>
            </a:extLst>
          </p:cNvPr>
          <p:cNvSpPr/>
          <p:nvPr/>
        </p:nvSpPr>
        <p:spPr>
          <a:xfrm>
            <a:off x="320040" y="164592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4D68E3-E610-B4F8-65E4-D3E6E57294DF}"/>
              </a:ext>
            </a:extLst>
          </p:cNvPr>
          <p:cNvSpPr/>
          <p:nvPr/>
        </p:nvSpPr>
        <p:spPr>
          <a:xfrm>
            <a:off x="32004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40A9FC-D3E3-B9AB-1DA7-D70AC2B4FB6E}"/>
              </a:ext>
            </a:extLst>
          </p:cNvPr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Finales – </a:t>
            </a:r>
            <a:r>
              <a:rPr lang="en-US" sz="22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confusion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28068CC-DF24-7D83-C8D9-43F0A804E6C7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5886C1F7-3511-C7EC-568B-DB4B1D6D45E8}"/>
              </a:ext>
            </a:extLst>
          </p:cNvPr>
          <p:cNvSpPr/>
          <p:nvPr/>
        </p:nvSpPr>
        <p:spPr>
          <a:xfrm>
            <a:off x="1583828" y="701876"/>
            <a:ext cx="1901737" cy="211049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6F5DA978-B9BC-EFA6-0256-7D91B2659A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023" t="10813"/>
          <a:stretch>
            <a:fillRect/>
          </a:stretch>
        </p:blipFill>
        <p:spPr>
          <a:xfrm>
            <a:off x="1645183" y="1077960"/>
            <a:ext cx="1840382" cy="1678454"/>
          </a:xfrm>
          <a:prstGeom prst="rect">
            <a:avLst/>
          </a:prstGeom>
        </p:spPr>
      </p:pic>
      <p:sp>
        <p:nvSpPr>
          <p:cNvPr id="41" name="Shape 5">
            <a:extLst>
              <a:ext uri="{FF2B5EF4-FFF2-40B4-BE49-F238E27FC236}">
                <a16:creationId xmlns:a16="http://schemas.microsoft.com/office/drawing/2014/main" id="{E8D08F86-98A0-44C0-B1FB-C87E1E0A1D37}"/>
              </a:ext>
            </a:extLst>
          </p:cNvPr>
          <p:cNvSpPr/>
          <p:nvPr/>
        </p:nvSpPr>
        <p:spPr>
          <a:xfrm>
            <a:off x="1583828" y="709250"/>
            <a:ext cx="1901737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5EF705E6-CE80-443C-DC9F-284055C54103}"/>
              </a:ext>
            </a:extLst>
          </p:cNvPr>
          <p:cNvSpPr/>
          <p:nvPr/>
        </p:nvSpPr>
        <p:spPr>
          <a:xfrm>
            <a:off x="1563329" y="705711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Pump Leakage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3" name="Shape 29">
            <a:extLst>
              <a:ext uri="{FF2B5EF4-FFF2-40B4-BE49-F238E27FC236}">
                <a16:creationId xmlns:a16="http://schemas.microsoft.com/office/drawing/2014/main" id="{152376F7-534D-63C5-5C90-1679B00CB7D9}"/>
              </a:ext>
            </a:extLst>
          </p:cNvPr>
          <p:cNvSpPr/>
          <p:nvPr/>
        </p:nvSpPr>
        <p:spPr>
          <a:xfrm>
            <a:off x="3589815" y="701876"/>
            <a:ext cx="1901737" cy="211049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46C79931-3E1E-D9B4-972C-D29AC66B9175}"/>
              </a:ext>
            </a:extLst>
          </p:cNvPr>
          <p:cNvSpPr/>
          <p:nvPr/>
        </p:nvSpPr>
        <p:spPr>
          <a:xfrm>
            <a:off x="3589815" y="709250"/>
            <a:ext cx="1901737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AD145261-F78A-7F32-5EE6-4657A4538DF6}"/>
              </a:ext>
            </a:extLst>
          </p:cNvPr>
          <p:cNvSpPr/>
          <p:nvPr/>
        </p:nvSpPr>
        <p:spPr>
          <a:xfrm>
            <a:off x="3569316" y="705711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Valve Condition</a:t>
            </a:r>
          </a:p>
        </p:txBody>
      </p:sp>
      <p:sp>
        <p:nvSpPr>
          <p:cNvPr id="47" name="Shape 29">
            <a:extLst>
              <a:ext uri="{FF2B5EF4-FFF2-40B4-BE49-F238E27FC236}">
                <a16:creationId xmlns:a16="http://schemas.microsoft.com/office/drawing/2014/main" id="{1F347726-9B75-846D-488C-B8F2296A34EC}"/>
              </a:ext>
            </a:extLst>
          </p:cNvPr>
          <p:cNvSpPr/>
          <p:nvPr/>
        </p:nvSpPr>
        <p:spPr>
          <a:xfrm>
            <a:off x="5616301" y="709250"/>
            <a:ext cx="1901737" cy="211049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49" name="Shape 5">
            <a:extLst>
              <a:ext uri="{FF2B5EF4-FFF2-40B4-BE49-F238E27FC236}">
                <a16:creationId xmlns:a16="http://schemas.microsoft.com/office/drawing/2014/main" id="{33F92E1D-393C-2DAF-0E25-84B9D91E1FF5}"/>
              </a:ext>
            </a:extLst>
          </p:cNvPr>
          <p:cNvSpPr/>
          <p:nvPr/>
        </p:nvSpPr>
        <p:spPr>
          <a:xfrm>
            <a:off x="5616301" y="716624"/>
            <a:ext cx="1901737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DEFC983F-7E63-2B10-7CF4-E0B92C1F5729}"/>
              </a:ext>
            </a:extLst>
          </p:cNvPr>
          <p:cNvSpPr/>
          <p:nvPr/>
        </p:nvSpPr>
        <p:spPr>
          <a:xfrm>
            <a:off x="5595802" y="713085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Stable Flag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A83BC9C0-E77C-5E60-8093-4498622F1581}"/>
              </a:ext>
            </a:extLst>
          </p:cNvPr>
          <p:cNvSpPr/>
          <p:nvPr/>
        </p:nvSpPr>
        <p:spPr>
          <a:xfrm>
            <a:off x="2466519" y="2868414"/>
            <a:ext cx="1901737" cy="211049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53" name="Shape 5">
            <a:extLst>
              <a:ext uri="{FF2B5EF4-FFF2-40B4-BE49-F238E27FC236}">
                <a16:creationId xmlns:a16="http://schemas.microsoft.com/office/drawing/2014/main" id="{F0CDC5CD-A75C-003C-77F8-C7B07FBC6D3D}"/>
              </a:ext>
            </a:extLst>
          </p:cNvPr>
          <p:cNvSpPr/>
          <p:nvPr/>
        </p:nvSpPr>
        <p:spPr>
          <a:xfrm>
            <a:off x="2466519" y="2875788"/>
            <a:ext cx="1901737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D94C0B53-AD2D-284A-C36D-6755EF3FF1D3}"/>
              </a:ext>
            </a:extLst>
          </p:cNvPr>
          <p:cNvSpPr/>
          <p:nvPr/>
        </p:nvSpPr>
        <p:spPr>
          <a:xfrm>
            <a:off x="2446020" y="2872249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Cooler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59" name="Shape 29">
            <a:extLst>
              <a:ext uri="{FF2B5EF4-FFF2-40B4-BE49-F238E27FC236}">
                <a16:creationId xmlns:a16="http://schemas.microsoft.com/office/drawing/2014/main" id="{D630DF88-6E4B-2C0B-2E96-1A88432D1B02}"/>
              </a:ext>
            </a:extLst>
          </p:cNvPr>
          <p:cNvSpPr/>
          <p:nvPr/>
        </p:nvSpPr>
        <p:spPr>
          <a:xfrm>
            <a:off x="4508010" y="2872249"/>
            <a:ext cx="1901737" cy="211049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61" name="Shape 5">
            <a:extLst>
              <a:ext uri="{FF2B5EF4-FFF2-40B4-BE49-F238E27FC236}">
                <a16:creationId xmlns:a16="http://schemas.microsoft.com/office/drawing/2014/main" id="{9AEF56A8-B4AA-E67D-096C-D5C55F653B2D}"/>
              </a:ext>
            </a:extLst>
          </p:cNvPr>
          <p:cNvSpPr/>
          <p:nvPr/>
        </p:nvSpPr>
        <p:spPr>
          <a:xfrm>
            <a:off x="4508010" y="2879623"/>
            <a:ext cx="1901737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1385AB71-AF1B-572D-8798-F6BA79B88F83}"/>
              </a:ext>
            </a:extLst>
          </p:cNvPr>
          <p:cNvSpPr/>
          <p:nvPr/>
        </p:nvSpPr>
        <p:spPr>
          <a:xfrm>
            <a:off x="4487511" y="28760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err="1">
                <a:solidFill>
                  <a:schemeClr val="bg1"/>
                </a:solidFill>
              </a:rPr>
              <a:t>Acummulator</a:t>
            </a:r>
            <a:endParaRPr lang="en-US" sz="800" b="1" dirty="0">
              <a:solidFill>
                <a:schemeClr val="bg1"/>
              </a:solidFill>
            </a:endParaRP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1D059D8C-4453-D3BD-C11A-54A63CB489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742" t="10916"/>
          <a:stretch>
            <a:fillRect/>
          </a:stretch>
        </p:blipFill>
        <p:spPr>
          <a:xfrm>
            <a:off x="3651701" y="1193132"/>
            <a:ext cx="1807925" cy="1448110"/>
          </a:xfrm>
          <a:prstGeom prst="rect">
            <a:avLst/>
          </a:prstGeom>
        </p:spPr>
      </p:pic>
      <p:pic>
        <p:nvPicPr>
          <p:cNvPr id="66" name="Imagen 65">
            <a:extLst>
              <a:ext uri="{FF2B5EF4-FFF2-40B4-BE49-F238E27FC236}">
                <a16:creationId xmlns:a16="http://schemas.microsoft.com/office/drawing/2014/main" id="{24AA75F4-27EB-B3E4-94C8-7E004BA330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742" t="10718"/>
          <a:stretch>
            <a:fillRect/>
          </a:stretch>
        </p:blipFill>
        <p:spPr>
          <a:xfrm>
            <a:off x="5649407" y="1266378"/>
            <a:ext cx="1833055" cy="1301618"/>
          </a:xfrm>
          <a:prstGeom prst="rect">
            <a:avLst/>
          </a:prstGeom>
        </p:spPr>
      </p:pic>
      <p:pic>
        <p:nvPicPr>
          <p:cNvPr id="68" name="Imagen 67">
            <a:extLst>
              <a:ext uri="{FF2B5EF4-FFF2-40B4-BE49-F238E27FC236}">
                <a16:creationId xmlns:a16="http://schemas.microsoft.com/office/drawing/2014/main" id="{E678026D-9255-6C6F-77CF-48ACE20749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3449" y="3182788"/>
            <a:ext cx="1761425" cy="1683209"/>
          </a:xfrm>
          <a:prstGeom prst="rect">
            <a:avLst/>
          </a:prstGeom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E5FCFB9E-FEFC-6465-FD73-8909B734410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6387" t="12414"/>
          <a:stretch>
            <a:fillRect/>
          </a:stretch>
        </p:blipFill>
        <p:spPr>
          <a:xfrm>
            <a:off x="4606705" y="3311201"/>
            <a:ext cx="1705842" cy="148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10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FD867E-AC4C-1621-750E-437B624C2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A99D20-5417-6B57-0D5B-20B6071028BC}"/>
              </a:ext>
            </a:extLst>
          </p:cNvPr>
          <p:cNvSpPr/>
          <p:nvPr/>
        </p:nvSpPr>
        <p:spPr>
          <a:xfrm>
            <a:off x="320040" y="164592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59CF25-20F5-87E2-14B1-991E23544584}"/>
              </a:ext>
            </a:extLst>
          </p:cNvPr>
          <p:cNvSpPr/>
          <p:nvPr/>
        </p:nvSpPr>
        <p:spPr>
          <a:xfrm>
            <a:off x="32004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3642C9-56E1-4699-D6C7-24812EA43AE3}"/>
              </a:ext>
            </a:extLst>
          </p:cNvPr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Finales – </a:t>
            </a:r>
            <a:r>
              <a:rPr lang="en-US" sz="22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F349F30-2588-97A0-2BCA-8CCB17FD16C3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654D7C6-B90B-1AAF-A21D-E9461EF971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635"/>
          <a:stretch>
            <a:fillRect/>
          </a:stretch>
        </p:blipFill>
        <p:spPr>
          <a:xfrm>
            <a:off x="3313687" y="828148"/>
            <a:ext cx="2516626" cy="18845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8BD6C83-B312-E417-34ED-03C3EFA5A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843" y="828148"/>
            <a:ext cx="2204523" cy="269942"/>
          </a:xfrm>
          <a:prstGeom prst="rect">
            <a:avLst/>
          </a:prstGeom>
        </p:spPr>
      </p:pic>
      <p:sp>
        <p:nvSpPr>
          <p:cNvPr id="10" name="Shape 5">
            <a:extLst>
              <a:ext uri="{FF2B5EF4-FFF2-40B4-BE49-F238E27FC236}">
                <a16:creationId xmlns:a16="http://schemas.microsoft.com/office/drawing/2014/main" id="{AED0DD51-84B2-7D5C-ED66-246283280443}"/>
              </a:ext>
            </a:extLst>
          </p:cNvPr>
          <p:cNvSpPr/>
          <p:nvPr/>
        </p:nvSpPr>
        <p:spPr>
          <a:xfrm>
            <a:off x="3242526" y="828149"/>
            <a:ext cx="71161" cy="1885418"/>
          </a:xfrm>
          <a:prstGeom prst="rect">
            <a:avLst/>
          </a:prstGeom>
          <a:solidFill>
            <a:srgbClr val="FFC000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985CE9C-2A2C-9284-2FC4-11EB2F5319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170" y="2900736"/>
            <a:ext cx="6929660" cy="18351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Shape 5">
            <a:extLst>
              <a:ext uri="{FF2B5EF4-FFF2-40B4-BE49-F238E27FC236}">
                <a16:creationId xmlns:a16="http://schemas.microsoft.com/office/drawing/2014/main" id="{FAD84463-091C-3ED2-84B5-5912A6D70BAD}"/>
              </a:ext>
            </a:extLst>
          </p:cNvPr>
          <p:cNvSpPr/>
          <p:nvPr/>
        </p:nvSpPr>
        <p:spPr>
          <a:xfrm>
            <a:off x="1060716" y="2900736"/>
            <a:ext cx="71161" cy="1835146"/>
          </a:xfrm>
          <a:prstGeom prst="rect">
            <a:avLst/>
          </a:prstGeom>
          <a:solidFill>
            <a:srgbClr val="FFC000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7696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0B402E-8292-CF95-372C-656FEEF2C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74F8DC-E0F2-7352-2404-F60BA7A20F07}"/>
              </a:ext>
            </a:extLst>
          </p:cNvPr>
          <p:cNvSpPr/>
          <p:nvPr/>
        </p:nvSpPr>
        <p:spPr>
          <a:xfrm>
            <a:off x="320040" y="164592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69ACFD-C6FA-4A32-3BC7-2082C35D265E}"/>
              </a:ext>
            </a:extLst>
          </p:cNvPr>
          <p:cNvSpPr/>
          <p:nvPr/>
        </p:nvSpPr>
        <p:spPr>
          <a:xfrm>
            <a:off x="32004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F2E7D10-1C5B-B494-E127-C5045ABBA297}"/>
              </a:ext>
            </a:extLst>
          </p:cNvPr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Finales – </a:t>
            </a:r>
            <a:r>
              <a:rPr lang="en-US" sz="22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22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Estado del Arte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ABE107A-2B85-900D-A359-3B173E764C5D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54CFAE93-3753-F896-AAA2-1A2B9BF5B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38476"/>
              </p:ext>
            </p:extLst>
          </p:nvPr>
        </p:nvGraphicFramePr>
        <p:xfrm>
          <a:off x="628730" y="881407"/>
          <a:ext cx="7594384" cy="3380686"/>
        </p:xfrm>
        <a:graphic>
          <a:graphicData uri="http://schemas.openxmlformats.org/drawingml/2006/table">
            <a:tbl>
              <a:tblPr/>
              <a:tblGrid>
                <a:gridCol w="1898596">
                  <a:extLst>
                    <a:ext uri="{9D8B030D-6E8A-4147-A177-3AD203B41FA5}">
                      <a16:colId xmlns:a16="http://schemas.microsoft.com/office/drawing/2014/main" val="1148149284"/>
                    </a:ext>
                  </a:extLst>
                </a:gridCol>
                <a:gridCol w="1898596">
                  <a:extLst>
                    <a:ext uri="{9D8B030D-6E8A-4147-A177-3AD203B41FA5}">
                      <a16:colId xmlns:a16="http://schemas.microsoft.com/office/drawing/2014/main" val="3488000163"/>
                    </a:ext>
                  </a:extLst>
                </a:gridCol>
                <a:gridCol w="1898596">
                  <a:extLst>
                    <a:ext uri="{9D8B030D-6E8A-4147-A177-3AD203B41FA5}">
                      <a16:colId xmlns:a16="http://schemas.microsoft.com/office/drawing/2014/main" val="4147882813"/>
                    </a:ext>
                  </a:extLst>
                </a:gridCol>
                <a:gridCol w="1898596">
                  <a:extLst>
                    <a:ext uri="{9D8B030D-6E8A-4147-A177-3AD203B41FA5}">
                      <a16:colId xmlns:a16="http://schemas.microsoft.com/office/drawing/2014/main" val="4221454522"/>
                    </a:ext>
                  </a:extLst>
                </a:gridCol>
              </a:tblGrid>
              <a:tr h="5018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Métrica / Dimensión</a:t>
                      </a:r>
                      <a:endParaRPr lang="es-CO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Enfoque Deep Learning(CNN-1D / LSTM)[Ref: Repositorio PyTorch / Sensors 2020]</a:t>
                      </a:r>
                      <a:endParaRPr lang="es-CO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Enfoque Estadístico Global / </a:t>
                      </a:r>
                      <a:r>
                        <a:rPr lang="es-CO" sz="9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Multitarget</a:t>
                      </a: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s-CO" sz="9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Stacking</a:t>
                      </a: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 Reglas)[</a:t>
                      </a:r>
                      <a:r>
                        <a:rPr lang="es-CO" sz="9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Ref</a:t>
                      </a: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Noura et al., 2024 / Helwig]</a:t>
                      </a:r>
                      <a:endParaRPr lang="es-CO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Solución </a:t>
                      </a:r>
                      <a:r>
                        <a:rPr lang="es-CO" sz="9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HydroMind</a:t>
                      </a: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(Pipeline </a:t>
                      </a:r>
                      <a:r>
                        <a:rPr lang="es-CO" sz="9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Medallion</a:t>
                      </a: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+ Modelo por Componente)</a:t>
                      </a:r>
                      <a:endParaRPr lang="es-CO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241483"/>
                  </a:ext>
                </a:extLst>
              </a:tr>
              <a:tr h="6203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Volumen de Datos / </a:t>
                      </a:r>
                      <a:r>
                        <a:rPr lang="es-CO" sz="9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Matrix X</a:t>
                      </a:r>
                      <a:endParaRPr lang="es-CO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Alta densidad:</a:t>
                      </a: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Procesamiento de ráfagas crudas de series de tiempo completas (miles de puntos por ciclo de 60s).</a:t>
                      </a: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Intermedio:</a:t>
                      </a:r>
                      <a:r>
                        <a:rPr lang="es-CO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Agrupamiento global de variables sin una estructura modular de datos.</a:t>
                      </a: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Optimizado (Capa Gold):</a:t>
                      </a: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Reducción de miles de puntos a </a:t>
                      </a: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102 características</a:t>
                      </a: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(Silver), refinadas mediante RFE por componente.</a:t>
                      </a: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1329213"/>
                  </a:ext>
                </a:extLst>
              </a:tr>
              <a:tr h="6203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Precisión Promedio F1-Score</a:t>
                      </a:r>
                      <a:endParaRPr lang="es-CO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CNN-1D: 0.95 - 0.98</a:t>
                      </a:r>
                    </a:p>
                    <a:p>
                      <a:pPr rtl="0">
                        <a:buNone/>
                      </a:pP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LSTM: 0.85 - 0.88 </a:t>
                      </a:r>
                      <a:r>
                        <a:rPr lang="es-CO" sz="9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(Sufre de </a:t>
                      </a:r>
                      <a:r>
                        <a:rPr lang="es-CO" sz="900" i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Overfitting</a:t>
                      </a:r>
                      <a:r>
                        <a:rPr lang="es-CO" sz="9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en Test)</a:t>
                      </a:r>
                      <a:endParaRPr lang="es-CO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Enfoques globales logran un F1 promedio general entre </a:t>
                      </a: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0.92 y 0.96</a:t>
                      </a: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Sobresaliente:</a:t>
                      </a: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F1-Score &gt; 0.97 de manera consistente en los 5 targets independientes.</a:t>
                      </a: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307885"/>
                  </a:ext>
                </a:extLst>
              </a:tr>
              <a:tr h="5018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Tiempo de Entrenamiento (Costo)</a:t>
                      </a:r>
                      <a:endParaRPr lang="es-CO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Alto:</a:t>
                      </a:r>
                      <a:r>
                        <a:rPr lang="es-CO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Minutos/Horas por época. Requiere infraestructura dedicada </a:t>
                      </a:r>
                      <a:r>
                        <a:rPr lang="es-CO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(GPU / CUDA)</a:t>
                      </a:r>
                      <a:r>
                        <a:rPr lang="es-CO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Bajo:</a:t>
                      </a:r>
                      <a:r>
                        <a:rPr lang="es-CO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Segundos/Minutos en CPU, pero con rigidez estructural ante cambios de sensores.</a:t>
                      </a: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Muy Bajo:</a:t>
                      </a: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Entrenamiento aproximado en </a:t>
                      </a: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minutos (&lt; 2)</a:t>
                      </a: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directamente sobre CPU utilizando </a:t>
                      </a:r>
                      <a:r>
                        <a:rPr lang="es-CO" sz="9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GridSearchCV</a:t>
                      </a: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805983"/>
                  </a:ext>
                </a:extLst>
              </a:tr>
              <a:tr h="5018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Tiempo de Inferencia (Latencia)</a:t>
                      </a:r>
                      <a:endParaRPr lang="es-CO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Alto para Edge:</a:t>
                      </a:r>
                      <a:r>
                        <a:rPr lang="es-CO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&gt; 150 - 300 ms por ciclo (Complejidad por capas de atención o convoluciones temporales).</a:t>
                      </a: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Bajo:</a:t>
                      </a:r>
                      <a:r>
                        <a:rPr lang="es-CO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&lt; 20 ms por ciclo, pero con menor resolución predictiva en estados de degradación sutil.</a:t>
                      </a: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Ultra-Bajo (Tiempo Real):</a:t>
                      </a:r>
                      <a:r>
                        <a:rPr lang="es-CO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s-CO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&lt; 10 milisegundos</a:t>
                      </a:r>
                      <a:r>
                        <a:rPr lang="es-CO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por ciclo de inferencia, ideal para hardware embebido local.</a:t>
                      </a: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769813"/>
                  </a:ext>
                </a:extLst>
              </a:tr>
              <a:tr h="63428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Interpretabilidad (Feature Importance)</a:t>
                      </a:r>
                      <a:endParaRPr lang="es-CO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0% (Caja Negra):</a:t>
                      </a:r>
                      <a:r>
                        <a:rPr lang="es-CO" sz="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No hay métrica numérica de qué sensor causó la predicción debido a las transformaciones no lineales.</a:t>
                      </a: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Media:</a:t>
                      </a: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Coeficientes de correlación global lineal, incapaces de aislar componentes individuales.</a:t>
                      </a: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100% Medible:</a:t>
                      </a: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Importancia de características explícita (</a:t>
                      </a:r>
                      <a:r>
                        <a:rPr lang="es-CO" sz="9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ej</a:t>
                      </a: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</a:t>
                      </a:r>
                      <a:r>
                        <a:rPr lang="es-CO" sz="9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Cooler</a:t>
                      </a: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se explica al </a:t>
                      </a:r>
                      <a:r>
                        <a:rPr lang="es-CO" sz="9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100%</a:t>
                      </a: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numéricamente por la variable </a:t>
                      </a:r>
                      <a:r>
                        <a:rPr lang="es-CO" sz="9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CE_mean</a:t>
                      </a:r>
                      <a:r>
                        <a:rPr lang="es-CO" sz="9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).</a:t>
                      </a:r>
                    </a:p>
                  </a:txBody>
                  <a:tcPr marL="27006" marR="27006" marT="18004" marB="18004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641394"/>
                  </a:ext>
                </a:extLst>
              </a:tr>
            </a:tbl>
          </a:graphicData>
        </a:graphic>
      </p:graphicFrame>
      <p:sp>
        <p:nvSpPr>
          <p:cNvPr id="38" name="Text 35">
            <a:extLst>
              <a:ext uri="{FF2B5EF4-FFF2-40B4-BE49-F238E27FC236}">
                <a16:creationId xmlns:a16="http://schemas.microsoft.com/office/drawing/2014/main" id="{074D81A6-4592-412B-5BF5-7F3DE1A032F9}"/>
              </a:ext>
            </a:extLst>
          </p:cNvPr>
          <p:cNvSpPr/>
          <p:nvPr/>
        </p:nvSpPr>
        <p:spPr>
          <a:xfrm>
            <a:off x="146304" y="4673103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0BEC5"/>
                </a:solidFill>
              </a:rPr>
              <a:t>Noura, H. N., Chu, T., Allal, Z., Salman, O., &amp; Chahine, K. (2024). A comparative study of ensemble methods and multi-output classifiers for predictive</a:t>
            </a:r>
          </a:p>
          <a:p>
            <a:pPr marL="0" indent="0" algn="ctr">
              <a:buNone/>
            </a:pPr>
            <a:r>
              <a:rPr lang="en-US" sz="750" i="1" dirty="0">
                <a:solidFill>
                  <a:srgbClr val="B0BEC5"/>
                </a:solidFill>
              </a:rPr>
              <a:t>maintenance of hydraulic systems. Results in Engineering, 24, 102900</a:t>
            </a:r>
          </a:p>
          <a:p>
            <a:pPr marL="0" indent="0" algn="ctr">
              <a:buNone/>
            </a:pPr>
            <a:endParaRPr lang="en-US" sz="750" i="1" dirty="0">
              <a:solidFill>
                <a:srgbClr val="B0BEC5"/>
              </a:solidFill>
            </a:endParaRPr>
          </a:p>
          <a:p>
            <a:pPr algn="ctr"/>
            <a:r>
              <a:rPr lang="en-US" sz="750" i="1" dirty="0">
                <a:solidFill>
                  <a:srgbClr val="B0BEC5"/>
                </a:solidFill>
              </a:rPr>
              <a:t>https://github.com/France1/predictive-maintenance-pytorch</a:t>
            </a:r>
          </a:p>
          <a:p>
            <a:pPr marL="0" indent="0" algn="ctr">
              <a:buNone/>
            </a:pP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996525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79DE25-956C-022F-3EED-6B73DA112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29">
            <a:extLst>
              <a:ext uri="{FF2B5EF4-FFF2-40B4-BE49-F238E27FC236}">
                <a16:creationId xmlns:a16="http://schemas.microsoft.com/office/drawing/2014/main" id="{9577E6E2-ADBF-F6F0-293E-C22058C0CC5D}"/>
              </a:ext>
            </a:extLst>
          </p:cNvPr>
          <p:cNvSpPr/>
          <p:nvPr/>
        </p:nvSpPr>
        <p:spPr>
          <a:xfrm>
            <a:off x="979293" y="749846"/>
            <a:ext cx="7150018" cy="382278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33B267F-40EB-1FF6-1B90-7EBDDC551F15}"/>
              </a:ext>
            </a:extLst>
          </p:cNvPr>
          <p:cNvSpPr/>
          <p:nvPr/>
        </p:nvSpPr>
        <p:spPr>
          <a:xfrm>
            <a:off x="320040" y="164592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79931C-7304-69F6-75C5-79BCEA59A2EC}"/>
              </a:ext>
            </a:extLst>
          </p:cNvPr>
          <p:cNvSpPr/>
          <p:nvPr/>
        </p:nvSpPr>
        <p:spPr>
          <a:xfrm>
            <a:off x="32004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17F76F-0DDE-3DAD-E06A-80BC6634C8A5}"/>
              </a:ext>
            </a:extLst>
          </p:cNvPr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Finales – Ventanas de </a:t>
            </a:r>
            <a:r>
              <a:rPr lang="en-US" sz="22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2C71EA5-3C33-7A90-5C86-DF9669F42C00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FEC10260-C368-0549-C1D7-5E9E55281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597" y="829908"/>
            <a:ext cx="6841410" cy="356374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7BC9E16-8C5A-49B7-038B-84B8FDAB9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293" y="4393654"/>
            <a:ext cx="7150018" cy="612686"/>
          </a:xfrm>
          <a:prstGeom prst="rect">
            <a:avLst/>
          </a:prstGeom>
        </p:spPr>
      </p:pic>
      <p:sp>
        <p:nvSpPr>
          <p:cNvPr id="13" name="Text 41">
            <a:extLst>
              <a:ext uri="{FF2B5EF4-FFF2-40B4-BE49-F238E27FC236}">
                <a16:creationId xmlns:a16="http://schemas.microsoft.com/office/drawing/2014/main" id="{FAD7DF82-6AA3-9D15-CE59-BE684E684D0B}"/>
              </a:ext>
            </a:extLst>
          </p:cNvPr>
          <p:cNvSpPr/>
          <p:nvPr/>
        </p:nvSpPr>
        <p:spPr>
          <a:xfrm>
            <a:off x="1152987" y="4502385"/>
            <a:ext cx="6927456" cy="36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sz="700" b="1" dirty="0"/>
              <a:t>Ventaja Temporal:</a:t>
            </a:r>
            <a:r>
              <a:rPr lang="es-CO" sz="700" dirty="0"/>
              <a:t> Diagnóstico y alerta temprana </a:t>
            </a:r>
            <a:r>
              <a:rPr lang="es-CO" sz="700" b="1" dirty="0"/>
              <a:t>15 segundos antes</a:t>
            </a:r>
            <a:r>
              <a:rPr lang="es-CO" sz="700" dirty="0"/>
              <a:t> de finalizar el ciclo estándar (reducción del 25% en tiempo de respuesta).</a:t>
            </a:r>
          </a:p>
          <a:p>
            <a:r>
              <a:rPr lang="es-CO" sz="700" b="1" dirty="0"/>
              <a:t>Eficiencia de Datos:</a:t>
            </a:r>
            <a:r>
              <a:rPr lang="es-CO" sz="700" dirty="0"/>
              <a:t> Reducción del </a:t>
            </a:r>
            <a:r>
              <a:rPr lang="es-CO" sz="700" b="1" dirty="0"/>
              <a:t>25% en el volumen de datos crudos</a:t>
            </a:r>
            <a:r>
              <a:rPr lang="es-CO" sz="700" dirty="0"/>
              <a:t> a procesar en las capas </a:t>
            </a:r>
            <a:r>
              <a:rPr lang="es-CO" sz="700" i="1" dirty="0"/>
              <a:t>Bronze</a:t>
            </a:r>
            <a:r>
              <a:rPr lang="es-CO" sz="700" dirty="0"/>
              <a:t> y </a:t>
            </a:r>
            <a:r>
              <a:rPr lang="es-CO" sz="700" i="1" dirty="0"/>
              <a:t>Silver</a:t>
            </a:r>
            <a:r>
              <a:rPr lang="es-CO" sz="700" dirty="0"/>
              <a:t>, disminuyendo drásticamente el costo de almacenamiento y cómputo en la planta.</a:t>
            </a:r>
          </a:p>
        </p:txBody>
      </p:sp>
    </p:spTree>
    <p:extLst>
      <p:ext uri="{BB962C8B-B14F-4D97-AF65-F5344CB8AC3E}">
        <p14:creationId xmlns:p14="http://schemas.microsoft.com/office/powerpoint/2010/main" val="680211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A44744-B31F-4D7E-1405-5FFEEE71E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29">
            <a:extLst>
              <a:ext uri="{FF2B5EF4-FFF2-40B4-BE49-F238E27FC236}">
                <a16:creationId xmlns:a16="http://schemas.microsoft.com/office/drawing/2014/main" id="{486F7836-55D5-50F4-94C9-272253D85349}"/>
              </a:ext>
            </a:extLst>
          </p:cNvPr>
          <p:cNvSpPr/>
          <p:nvPr/>
        </p:nvSpPr>
        <p:spPr>
          <a:xfrm>
            <a:off x="920338" y="874993"/>
            <a:ext cx="7261761" cy="35287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B5549AA-24AC-1D66-E431-E2FA2E2310F1}"/>
              </a:ext>
            </a:extLst>
          </p:cNvPr>
          <p:cNvSpPr/>
          <p:nvPr/>
        </p:nvSpPr>
        <p:spPr>
          <a:xfrm>
            <a:off x="320040" y="164592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CFC7B3-484F-066C-4DC8-B918646FCD8B}"/>
              </a:ext>
            </a:extLst>
          </p:cNvPr>
          <p:cNvSpPr/>
          <p:nvPr/>
        </p:nvSpPr>
        <p:spPr>
          <a:xfrm>
            <a:off x="32004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9DF7F1-661D-3404-FB5A-B461628514D2}"/>
              </a:ext>
            </a:extLst>
          </p:cNvPr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Finales – Dashboard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2A28EA-E630-B731-1C8F-C2EABCE86939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D3AB883-92FA-050B-4852-69E1C550A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89" y="969662"/>
            <a:ext cx="7073364" cy="3349173"/>
          </a:xfrm>
          <a:prstGeom prst="rect">
            <a:avLst/>
          </a:prstGeom>
        </p:spPr>
      </p:pic>
      <p:sp>
        <p:nvSpPr>
          <p:cNvPr id="8" name="Text 35">
            <a:extLst>
              <a:ext uri="{FF2B5EF4-FFF2-40B4-BE49-F238E27FC236}">
                <a16:creationId xmlns:a16="http://schemas.microsoft.com/office/drawing/2014/main" id="{DE67751E-524B-3FAF-53DE-E2A70A0537BF}"/>
              </a:ext>
            </a:extLst>
          </p:cNvPr>
          <p:cNvSpPr/>
          <p:nvPr/>
        </p:nvSpPr>
        <p:spPr>
          <a:xfrm>
            <a:off x="256032" y="489204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0BEC5"/>
                </a:solidFill>
              </a:rPr>
              <a:t>Dashboard de un </a:t>
            </a:r>
            <a:r>
              <a:rPr lang="en-US" sz="750" i="1" dirty="0" err="1">
                <a:solidFill>
                  <a:srgbClr val="B0BEC5"/>
                </a:solidFill>
              </a:rPr>
              <a:t>sistema</a:t>
            </a:r>
            <a:r>
              <a:rPr lang="en-US" sz="750" i="1" dirty="0">
                <a:solidFill>
                  <a:srgbClr val="B0BEC5"/>
                </a:solidFill>
              </a:rPr>
              <a:t> </a:t>
            </a:r>
            <a:r>
              <a:rPr lang="en-US" sz="750" i="1" dirty="0" err="1">
                <a:solidFill>
                  <a:srgbClr val="B0BEC5"/>
                </a:solidFill>
              </a:rPr>
              <a:t>hidr</a:t>
            </a:r>
            <a:r>
              <a:rPr lang="es-CO" sz="750" i="1" dirty="0">
                <a:solidFill>
                  <a:srgbClr val="B0BEC5"/>
                </a:solidFill>
              </a:rPr>
              <a:t>á</a:t>
            </a:r>
            <a:r>
              <a:rPr lang="en-US" sz="750" i="1" dirty="0" err="1">
                <a:solidFill>
                  <a:srgbClr val="B0BEC5"/>
                </a:solidFill>
              </a:rPr>
              <a:t>ulico</a:t>
            </a:r>
            <a:r>
              <a:rPr lang="en-US" sz="750" i="1" dirty="0">
                <a:solidFill>
                  <a:srgbClr val="B0BEC5"/>
                </a:solidFill>
              </a:rPr>
              <a:t> bajo </a:t>
            </a:r>
            <a:r>
              <a:rPr lang="en-US" sz="750" i="1" dirty="0" err="1">
                <a:solidFill>
                  <a:srgbClr val="B0BEC5"/>
                </a:solidFill>
              </a:rPr>
              <a:t>reglas</a:t>
            </a:r>
            <a:r>
              <a:rPr lang="en-US" sz="750" i="1" dirty="0">
                <a:solidFill>
                  <a:srgbClr val="B0BEC5"/>
                </a:solidFill>
              </a:rPr>
              <a:t> de </a:t>
            </a:r>
            <a:r>
              <a:rPr lang="en-US" sz="750" i="1" dirty="0" err="1">
                <a:solidFill>
                  <a:srgbClr val="B0BEC5"/>
                </a:solidFill>
              </a:rPr>
              <a:t>negocio</a:t>
            </a:r>
            <a:r>
              <a:rPr lang="en-US" sz="750" i="1" dirty="0">
                <a:solidFill>
                  <a:srgbClr val="B0BEC5"/>
                </a:solidFill>
              </a:rPr>
              <a:t> del “</a:t>
            </a:r>
            <a:r>
              <a:rPr lang="en-US" sz="750" i="1" dirty="0" err="1">
                <a:solidFill>
                  <a:srgbClr val="B0BEC5"/>
                </a:solidFill>
              </a:rPr>
              <a:t>cliente</a:t>
            </a:r>
            <a:r>
              <a:rPr lang="en-US" sz="750" i="1" dirty="0">
                <a:solidFill>
                  <a:srgbClr val="B0BEC5"/>
                </a:solidFill>
              </a:rPr>
              <a:t>”.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335387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411480" cy="41148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Futuro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ACC1"/>
                </a:solidFill>
              </a:rPr>
              <a:t>CONCLUSIONES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3840480" cy="1170432"/>
          </a:xfrm>
          <a:prstGeom prst="rect">
            <a:avLst/>
          </a:prstGeom>
          <a:solidFill>
            <a:srgbClr val="0D2144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347472" cy="11704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4320" y="1115568"/>
            <a:ext cx="347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188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897B"/>
                </a:solidFill>
              </a:rPr>
              <a:t>Resultados sólidos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63040"/>
            <a:ext cx="33375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ES" sz="850" dirty="0">
                <a:solidFill>
                  <a:srgbClr val="FFFFFF"/>
                </a:solidFill>
              </a:rPr>
              <a:t>La implementación de </a:t>
            </a:r>
            <a:r>
              <a:rPr lang="es-ES" sz="850" b="1" dirty="0">
                <a:solidFill>
                  <a:srgbClr val="FFFFFF"/>
                </a:solidFill>
              </a:rPr>
              <a:t>un pipeline </a:t>
            </a:r>
            <a:r>
              <a:rPr lang="es-ES" sz="850" b="1" dirty="0" err="1">
                <a:solidFill>
                  <a:srgbClr val="FFFFFF"/>
                </a:solidFill>
              </a:rPr>
              <a:t>Medallion</a:t>
            </a:r>
            <a:r>
              <a:rPr lang="es-ES" sz="850" b="1" dirty="0">
                <a:solidFill>
                  <a:srgbClr val="FFFFFF"/>
                </a:solidFill>
              </a:rPr>
              <a:t> modular </a:t>
            </a:r>
            <a:r>
              <a:rPr lang="es-ES" sz="850" dirty="0">
                <a:solidFill>
                  <a:srgbClr val="FFFFFF"/>
                </a:solidFill>
              </a:rPr>
              <a:t>permitió transformar datos crudos de alta frecuencia en indicadores predictivos precisos, logrando un </a:t>
            </a:r>
            <a:r>
              <a:rPr lang="es-ES" sz="850" b="1" dirty="0">
                <a:solidFill>
                  <a:srgbClr val="FFFFFF"/>
                </a:solidFill>
              </a:rPr>
              <a:t>F1-Score  &lt; 0.97</a:t>
            </a:r>
            <a:r>
              <a:rPr lang="es-ES" sz="850" dirty="0">
                <a:solidFill>
                  <a:srgbClr val="FFFFFF"/>
                </a:solidFill>
              </a:rPr>
              <a:t> en los cinco componentes críticos.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3840480" cy="1170432"/>
          </a:xfrm>
          <a:prstGeom prst="rect">
            <a:avLst/>
          </a:prstGeom>
          <a:solidFill>
            <a:srgbClr val="0D2144"/>
          </a:solidFill>
          <a:ln w="12700">
            <a:solidFill>
              <a:srgbClr val="00AC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347472" cy="11704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74320" y="2377440"/>
            <a:ext cx="347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dirty="0"/>
              <a:t>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450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00ACC1"/>
                </a:solidFill>
              </a:rPr>
              <a:t>Innovación</a:t>
            </a:r>
            <a:r>
              <a:rPr lang="en-US" sz="1000" b="1" dirty="0">
                <a:solidFill>
                  <a:srgbClr val="00ACC1"/>
                </a:solidFill>
              </a:rPr>
              <a:t> </a:t>
            </a:r>
            <a:r>
              <a:rPr lang="en-US" sz="1000" b="1" dirty="0" err="1">
                <a:solidFill>
                  <a:srgbClr val="00ACC1"/>
                </a:solidFill>
              </a:rPr>
              <a:t>Operativa</a:t>
            </a:r>
            <a:endParaRPr lang="en-US" sz="1000" b="1" dirty="0">
              <a:solidFill>
                <a:srgbClr val="00ACC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2724912"/>
            <a:ext cx="33375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ES" sz="850" dirty="0">
                <a:solidFill>
                  <a:srgbClr val="FFFFFF"/>
                </a:solidFill>
              </a:rPr>
              <a:t>El análisis de sensibilidad temporal demostró que es posible reducir la ventana de inferencia a </a:t>
            </a:r>
            <a:r>
              <a:rPr lang="es-ES" sz="850" b="1" dirty="0">
                <a:solidFill>
                  <a:srgbClr val="FFFFFF"/>
                </a:solidFill>
              </a:rPr>
              <a:t>45 segundos</a:t>
            </a:r>
            <a:r>
              <a:rPr lang="es-ES" sz="850" dirty="0">
                <a:solidFill>
                  <a:srgbClr val="FFFFFF"/>
                </a:solidFill>
              </a:rPr>
              <a:t>, garantizando un diagnóstico fiable con un </a:t>
            </a:r>
            <a:r>
              <a:rPr lang="es-ES" sz="850" b="1" dirty="0">
                <a:solidFill>
                  <a:srgbClr val="FFFFFF"/>
                </a:solidFill>
              </a:rPr>
              <a:t>25% menos de carga computacional y 15 segundos de ventaja en alerta temprana.</a:t>
            </a:r>
            <a:endParaRPr lang="en-US" sz="850" b="1" dirty="0"/>
          </a:p>
        </p:txBody>
      </p:sp>
      <p:sp>
        <p:nvSpPr>
          <p:cNvPr id="17" name="Shape 15"/>
          <p:cNvSpPr/>
          <p:nvPr/>
        </p:nvSpPr>
        <p:spPr>
          <a:xfrm>
            <a:off x="274320" y="3639312"/>
            <a:ext cx="3840480" cy="1170432"/>
          </a:xfrm>
          <a:prstGeom prst="rect">
            <a:avLst/>
          </a:prstGeom>
          <a:solidFill>
            <a:srgbClr val="0D2144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274320" y="3639312"/>
            <a:ext cx="347472" cy="1170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274320" y="3639312"/>
            <a:ext cx="347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dirty="0"/>
              <a:t>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37124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1565C0"/>
                </a:solidFill>
              </a:rPr>
              <a:t>Transparencia</a:t>
            </a:r>
            <a:r>
              <a:rPr lang="en-US" sz="1000" b="1" dirty="0">
                <a:solidFill>
                  <a:srgbClr val="1565C0"/>
                </a:solidFill>
              </a:rPr>
              <a:t> y </a:t>
            </a:r>
            <a:r>
              <a:rPr lang="en-US" sz="1000" b="1" dirty="0" err="1">
                <a:solidFill>
                  <a:srgbClr val="1565C0"/>
                </a:solidFill>
              </a:rPr>
              <a:t>Física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986784"/>
            <a:ext cx="33375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ES" sz="850" dirty="0">
                <a:solidFill>
                  <a:srgbClr val="FFFFFF"/>
                </a:solidFill>
              </a:rPr>
              <a:t>A diferencia de modelos "caja negra" (Deep </a:t>
            </a:r>
            <a:r>
              <a:rPr lang="es-ES" sz="850" dirty="0" err="1">
                <a:solidFill>
                  <a:srgbClr val="FFFFFF"/>
                </a:solidFill>
              </a:rPr>
              <a:t>Learning</a:t>
            </a:r>
            <a:r>
              <a:rPr lang="es-ES" sz="850" dirty="0">
                <a:solidFill>
                  <a:srgbClr val="FFFFFF"/>
                </a:solidFill>
              </a:rPr>
              <a:t>), nuestra especialización por componentes mediante RFE proporcionó </a:t>
            </a:r>
            <a:r>
              <a:rPr lang="es-ES" sz="850" b="1" dirty="0">
                <a:solidFill>
                  <a:srgbClr val="FFFFFF"/>
                </a:solidFill>
              </a:rPr>
              <a:t>interpretabilidad física</a:t>
            </a:r>
            <a:r>
              <a:rPr lang="es-ES" sz="850" dirty="0">
                <a:solidFill>
                  <a:srgbClr val="FFFFFF"/>
                </a:solidFill>
              </a:rPr>
              <a:t>, permitiendo a los ingenieros comprender la causa raíz de la degradación (ej. relación directa entre temperatura y eficiencia del Cooler).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15968" y="822960"/>
            <a:ext cx="0" cy="4114800"/>
          </a:xfrm>
          <a:prstGeom prst="line">
            <a:avLst/>
          </a:prstGeom>
          <a:noFill/>
          <a:ln w="6350">
            <a:solidFill>
              <a:srgbClr val="1565C0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480560" y="804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B300"/>
                </a:solidFill>
              </a:rPr>
              <a:t>TRABAJO FUTURO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25034" y="1441639"/>
            <a:ext cx="2011679" cy="1389888"/>
          </a:xfrm>
          <a:prstGeom prst="rect">
            <a:avLst/>
          </a:prstGeom>
          <a:solidFill>
            <a:srgbClr val="0D214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5625034" y="1441639"/>
            <a:ext cx="2011680" cy="3200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5625034" y="1441639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900" dirty="0"/>
              <a:t>👨‍💻  </a:t>
            </a:r>
            <a:r>
              <a:rPr lang="es-CO" sz="900" b="1" dirty="0"/>
              <a:t>Despliegue en Edge Computing</a:t>
            </a:r>
            <a:endParaRPr lang="en-US" sz="900" b="1" dirty="0"/>
          </a:p>
        </p:txBody>
      </p:sp>
      <p:sp>
        <p:nvSpPr>
          <p:cNvPr id="31" name="Text 29"/>
          <p:cNvSpPr/>
          <p:nvPr/>
        </p:nvSpPr>
        <p:spPr>
          <a:xfrm>
            <a:off x="5760719" y="1917127"/>
            <a:ext cx="187599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ES" sz="850" dirty="0">
                <a:solidFill>
                  <a:srgbClr val="FFFFFF"/>
                </a:solidFill>
              </a:rPr>
              <a:t>Portabilidad del pipeline hacia dispositivos embebidos de bajo consumo (FPGA o microcontroladores industriales) para monitoreo </a:t>
            </a:r>
            <a:r>
              <a:rPr lang="es-ES" sz="850" dirty="0" err="1">
                <a:solidFill>
                  <a:srgbClr val="FFFFFF"/>
                </a:solidFill>
              </a:rPr>
              <a:t>on</a:t>
            </a:r>
            <a:r>
              <a:rPr lang="es-ES" sz="850" dirty="0">
                <a:solidFill>
                  <a:srgbClr val="FFFFFF"/>
                </a:solidFill>
              </a:rPr>
              <a:t>-premise sin depender de la nube.</a:t>
            </a:r>
            <a:endParaRPr lang="en-US" sz="850" dirty="0"/>
          </a:p>
        </p:txBody>
      </p:sp>
      <p:sp>
        <p:nvSpPr>
          <p:cNvPr id="24" name="Shape 26">
            <a:extLst>
              <a:ext uri="{FF2B5EF4-FFF2-40B4-BE49-F238E27FC236}">
                <a16:creationId xmlns:a16="http://schemas.microsoft.com/office/drawing/2014/main" id="{FD607272-474A-55A1-D095-36F15B12A8ED}"/>
              </a:ext>
            </a:extLst>
          </p:cNvPr>
          <p:cNvSpPr/>
          <p:nvPr/>
        </p:nvSpPr>
        <p:spPr>
          <a:xfrm>
            <a:off x="5625034" y="3078415"/>
            <a:ext cx="2011679" cy="1389888"/>
          </a:xfrm>
          <a:prstGeom prst="rect">
            <a:avLst/>
          </a:prstGeom>
          <a:solidFill>
            <a:srgbClr val="0D214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7">
            <a:extLst>
              <a:ext uri="{FF2B5EF4-FFF2-40B4-BE49-F238E27FC236}">
                <a16:creationId xmlns:a16="http://schemas.microsoft.com/office/drawing/2014/main" id="{709D3C36-353E-45C9-65EC-F3E9884AC1E0}"/>
              </a:ext>
            </a:extLst>
          </p:cNvPr>
          <p:cNvSpPr/>
          <p:nvPr/>
        </p:nvSpPr>
        <p:spPr>
          <a:xfrm>
            <a:off x="5625034" y="3078415"/>
            <a:ext cx="2011680" cy="3200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60B32548-6FB8-D30A-D6D7-DD56B2026483}"/>
              </a:ext>
            </a:extLst>
          </p:cNvPr>
          <p:cNvSpPr/>
          <p:nvPr/>
        </p:nvSpPr>
        <p:spPr>
          <a:xfrm>
            <a:off x="5625034" y="3078415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900" b="1" dirty="0"/>
              <a:t>⚡  </a:t>
            </a:r>
            <a:r>
              <a:rPr lang="es-CO" sz="900" b="1" dirty="0"/>
              <a:t>Detección de Anomalías no Supervisada</a:t>
            </a:r>
            <a:endParaRPr lang="en-US" sz="900" b="1" dirty="0"/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236C68FC-0C14-10A6-0DDB-0CEFE467E02C}"/>
              </a:ext>
            </a:extLst>
          </p:cNvPr>
          <p:cNvSpPr/>
          <p:nvPr/>
        </p:nvSpPr>
        <p:spPr>
          <a:xfrm>
            <a:off x="5760718" y="3547872"/>
            <a:ext cx="1875995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ES" sz="850" dirty="0">
                <a:solidFill>
                  <a:srgbClr val="FFFFFF"/>
                </a:solidFill>
              </a:rPr>
              <a:t>Implementar algoritmos no supervisados </a:t>
            </a:r>
            <a:r>
              <a:rPr lang="es-CO" sz="900" dirty="0">
                <a:solidFill>
                  <a:schemeClr val="bg1"/>
                </a:solidFill>
              </a:rPr>
              <a:t>para detectar fallos nuevos o "desconocidos" que no están presentes en el </a:t>
            </a:r>
            <a:r>
              <a:rPr lang="es-CO" sz="900" dirty="0" err="1">
                <a:solidFill>
                  <a:schemeClr val="bg1"/>
                </a:solidFill>
              </a:rPr>
              <a:t>dataset</a:t>
            </a:r>
            <a:r>
              <a:rPr lang="es-CO" sz="900" dirty="0">
                <a:solidFill>
                  <a:schemeClr val="bg1"/>
                </a:solidFill>
              </a:rPr>
              <a:t> de entrenamiento actual.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kern="0" spc="1000" dirty="0">
                <a:solidFill>
                  <a:srgbClr val="FFFFFF"/>
                </a:solidFill>
              </a:rPr>
              <a:t>HYDROMIND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800" dirty="0">
                <a:solidFill>
                  <a:srgbClr val="00ACC1"/>
                </a:solidFill>
              </a:rPr>
              <a:t>INDUSTRY 4.0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300"/>
                </a:solidFill>
              </a:rPr>
              <a:t>Gracias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0BEC5"/>
                </a:solidFill>
              </a:rPr>
              <a:t>¿Preguntas?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1435</Words>
  <Application>Microsoft Office PowerPoint</Application>
  <PresentationFormat>Presentación en pantalla (16:9)</PresentationFormat>
  <Paragraphs>216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Google Sans Text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HydroMind – Avance 3: Solución Implementada</dc:title>
  <dc:subject>PptxGenJS Presentation</dc:subject>
  <dc:creator>PptxGenJS</dc:creator>
  <cp:lastModifiedBy>JUAN PABLO GONZALEZ BLANDON</cp:lastModifiedBy>
  <cp:revision>4</cp:revision>
  <dcterms:created xsi:type="dcterms:W3CDTF">2026-05-18T23:12:05Z</dcterms:created>
  <dcterms:modified xsi:type="dcterms:W3CDTF">2026-06-07T21:13:38Z</dcterms:modified>
</cp:coreProperties>
</file>